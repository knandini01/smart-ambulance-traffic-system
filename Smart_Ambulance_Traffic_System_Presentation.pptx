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</a:defRPr>
            </a:pPr>
            <a:r>
              <a:t>23CSE304 — EMBEDDED SYSTEMS</a:t>
            </a:r>
          </a:p>
          <a:p>
            <a:pPr>
              <a:spcAft>
                <a:spcPts val="1200"/>
              </a:spcAft>
              <a:defRPr sz="3000" b="1">
                <a:solidFill>
                  <a:srgbClr val="0F172A"/>
                </a:solidFill>
              </a:defRPr>
            </a:pPr>
            <a:r>
              <a:t>SMART AMBULANCE TRAFFIC PRIORITY</a:t>
            </a:r>
            <a:br/>
            <a:r>
              <a:t>AND JUNCTION MANAGEMENT SYSTEM</a:t>
            </a:r>
          </a:p>
          <a:p>
            <a:pPr>
              <a:spcAft>
                <a:spcPts val="2800"/>
              </a:spcAft>
              <a:defRPr sz="1500">
                <a:solidFill>
                  <a:srgbClr val="64748B"/>
                </a:solidFill>
              </a:defRPr>
            </a:pPr>
            <a:r>
              <a:t>An Intelligent, Interrupt-Driven Controller with Anti-Starvation Scheduling on STM32C031C6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TEAM MEMBERS: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</a:rPr>
              <a:t>•  GRS Akshitha  </a:t>
            </a:r>
            <a:r>
              <a:rPr sz="1200">
                <a:solidFill>
                  <a:srgbClr val="64748B"/>
                </a:solidFill>
              </a:rPr>
              <a:t>(AM.SC.U4CSE24221)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</a:rPr>
              <a:t>•  Sai Mohith Konduru  </a:t>
            </a:r>
            <a:r>
              <a:rPr sz="1200">
                <a:solidFill>
                  <a:srgbClr val="64748B"/>
                </a:solidFill>
              </a:rPr>
              <a:t>(AM.SC.U4CSE24230)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</a:rPr>
              <a:t>•  Nandini Kuchi  </a:t>
            </a:r>
            <a:r>
              <a:rPr sz="1200">
                <a:solidFill>
                  <a:srgbClr val="64748B"/>
                </a:solidFill>
              </a:rPr>
              <a:t>(AM.SC.U4CSE24231)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</a:rPr>
              <a:t>•  Leela Nayan P Kanjirapully  </a:t>
            </a:r>
            <a:r>
              <a:rPr sz="1200">
                <a:solidFill>
                  <a:srgbClr val="64748B"/>
                </a:solidFill>
              </a:rPr>
              <a:t>(AM.SC.U4CSE24232)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</a:rPr>
              <a:t>•  Mannsi Pentela  </a:t>
            </a:r>
            <a:r>
              <a:rPr sz="1200">
                <a:solidFill>
                  <a:srgbClr val="64748B"/>
                </a:solidFill>
              </a:rPr>
              <a:t>(AM.SC.U4CSE24247)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01 • BACKGROUND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Problem statement — Why ambulances need signal priority at junctions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THE CHALLENGE
</a:t>
            </a:r>
            <a:r>
              <a:rPr sz="1500" b="1">
                <a:solidFill>
                  <a:srgbClr val="DC2626"/>
                </a:solidFill>
              </a:rPr>
              <a:t>CRITICAL TIME LOST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4-Way Intersection: </a:t>
            </a:r>
            <a:r>
              <a:rPr sz="1200">
                <a:solidFill>
                  <a:srgbClr val="334155"/>
                </a:solidFill>
              </a:rPr>
              <a:t>Congested urban junctions spanning North, East, South, and West.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The Golden Hour: </a:t>
            </a:r>
            <a:r>
              <a:rPr sz="1200">
                <a:solidFill>
                  <a:srgbClr val="334155"/>
                </a:solidFill>
              </a:rPr>
              <a:t>In acute cardiac and trauma cases, every 60 seconds of transit delay reduces patient survival probability by up to 10%.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Rigid Fixed Timers: </a:t>
            </a:r>
            <a:r>
              <a:rPr sz="1200">
                <a:solidFill>
                  <a:srgbClr val="334155"/>
                </a:solidFill>
              </a:rPr>
              <a:t>Traditional traffic controllers follow fixed timers without any perception of approaching emergency vehicles.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Dangerous Evasion: </a:t>
            </a:r>
            <a:r>
              <a:rPr sz="1200">
                <a:solidFill>
                  <a:srgbClr val="334155"/>
                </a:solidFill>
              </a:rPr>
              <a:t>Drivers often execute hazardous maneuvers into oncoming lanes to clear a path for trapped ambulances.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THE SOLUTION
</a:t>
            </a:r>
            <a:r>
              <a:rPr sz="1500" b="1">
                <a:solidFill>
                  <a:srgbClr val="2563EB"/>
                </a:solidFill>
              </a:rPr>
              <a:t>THE ISSUE &amp; PROJECT AIM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Collision Risk: </a:t>
            </a:r>
            <a:r>
              <a:rPr sz="1200">
                <a:solidFill>
                  <a:srgbClr val="334155"/>
                </a:solidFill>
              </a:rPr>
              <a:t>Abruptly overriding signals creates severe broadside collision risks. Priority MUST be granted with controlled caution buffers.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Civilian Starvation: </a:t>
            </a:r>
            <a:r>
              <a:rPr sz="1200">
                <a:solidFill>
                  <a:srgbClr val="334155"/>
                </a:solidFill>
              </a:rPr>
              <a:t>Continuous emergency overrides along busy corridors can hold non-emergency lanes at permanent red lights.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Project Objective: </a:t>
            </a:r>
            <a:r>
              <a:rPr sz="1200">
                <a:solidFill>
                  <a:srgbClr val="334155"/>
                </a:solidFill>
              </a:rPr>
              <a:t>Automatically grant safe traffic-signal priority to approaching emergency vehicles via hardware interrupts.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Core Requirement: </a:t>
            </a:r>
            <a:r>
              <a:rPr sz="1200">
                <a:solidFill>
                  <a:srgbClr val="334155"/>
                </a:solidFill>
              </a:rPr>
              <a:t>Detect the ambulance, safely transition conflicting signals through yellow and all-red, sound warning alerts, and restore regular traffic fairly.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02 • PROJECT PLAN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Objectives — The key functions planned for the complete embedded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</a:rPr>
              <a:t>01 • DETECT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Instant Sensing: </a:t>
            </a:r>
            <a:r>
              <a:rPr sz="1200">
                <a:solidFill>
                  <a:srgbClr val="334155"/>
                </a:solidFill>
              </a:rPr>
              <a:t>Sense approaching emergency vehicles from North, East, South, and West using pushbuttons on GPIO External Interrupts (EXTI).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7977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D97706"/>
                </a:solidFill>
              </a:rPr>
              <a:t>02 • TRANSITION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Controlled Braking: </a:t>
            </a:r>
            <a:r>
              <a:rPr sz="1200">
                <a:solidFill>
                  <a:srgbClr val="334155"/>
                </a:solidFill>
              </a:rPr>
              <a:t>Safely change conflicting green signals to yellow (2 s), followed by all-red (1 s), before granting emergency green.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9164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920240"/>
            <a:ext cx="277977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DC2626"/>
                </a:solidFill>
              </a:rPr>
              <a:t>03 • CLEAR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Intersection Safety: </a:t>
            </a:r>
            <a:r>
              <a:rPr sz="1200">
                <a:solidFill>
                  <a:srgbClr val="334155"/>
                </a:solidFill>
              </a:rPr>
              <a:t>Enforce a mandatory 1-second all-red clearance interval before and after every green phase so conflicting lanes never cross.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77977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A34A"/>
                </a:solidFill>
              </a:rPr>
              <a:t>04 • ANTI-STARVATION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Civilian Fairness: </a:t>
            </a:r>
            <a:r>
              <a:rPr sz="1200">
                <a:solidFill>
                  <a:srgbClr val="334155"/>
                </a:solidFill>
              </a:rPr>
              <a:t>Limit consecutive ambulance runs to 2; then force a full normal green phase for whichever lane waited the longest.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11480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4343400"/>
            <a:ext cx="277977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</a:rPr>
              <a:t>05 • WARN &amp; LOG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Multi-Modal Alert: </a:t>
            </a:r>
            <a:r>
              <a:rPr sz="1200">
                <a:solidFill>
                  <a:srgbClr val="334155"/>
                </a:solidFill>
              </a:rPr>
              <a:t>Drive an audible warning buzzer on PA7 during priority and stream real-time diagnostic state telemetry over USART2.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114800"/>
            <a:ext cx="3328416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4343400"/>
            <a:ext cx="2779776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</a:rPr>
              <a:t>06 • QUEUE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Zero Request Loss: </a:t>
            </a:r>
            <a:r>
              <a:rPr sz="1200">
                <a:solidFill>
                  <a:srgbClr val="334155"/>
                </a:solidFill>
              </a:rPr>
              <a:t>Store concurrent or repeated emergency requests in memory and service them fairly in round-robin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4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03 • SYSTEM DESIGN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System Block Diagram — Input stage → Controller &amp; timing stage → Output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INPUTS
</a:t>
            </a:r>
            <a:r>
              <a:rPr sz="1500" b="1">
                <a:solidFill>
                  <a:srgbClr val="2563EB"/>
                </a:solidFill>
              </a:rPr>
              <a:t>INPUT &amp; SENSING STAGE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North Ambulance: </a:t>
            </a:r>
            <a:r>
              <a:rPr sz="1200">
                <a:solidFill>
                  <a:srgbClr val="334155"/>
                </a:solidFill>
              </a:rPr>
              <a:t>Pushbutton on PA0 (Falling edge EXTI Line 0)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East Ambulance: </a:t>
            </a:r>
            <a:r>
              <a:rPr sz="1200">
                <a:solidFill>
                  <a:srgbClr val="334155"/>
                </a:solidFill>
              </a:rPr>
              <a:t>Pushbutton on PA1 (Falling edge EXTI Line 1)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South Ambulance: </a:t>
            </a:r>
            <a:r>
              <a:rPr sz="1200">
                <a:solidFill>
                  <a:srgbClr val="334155"/>
                </a:solidFill>
              </a:rPr>
              <a:t>Pushbutton on PA4 (Falling edge EXTI Line 4)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West Ambulance: </a:t>
            </a:r>
            <a:r>
              <a:rPr sz="1200">
                <a:solidFill>
                  <a:srgbClr val="334155"/>
                </a:solidFill>
              </a:rPr>
              <a:t>Pushbutton on PA8 (Falling edge EXTI Line 8)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Internal Pull-Ups: </a:t>
            </a:r>
            <a:r>
              <a:rPr sz="1200">
                <a:solidFill>
                  <a:srgbClr val="334155"/>
                </a:solidFill>
              </a:rPr>
              <a:t>Normally 3.3V (HIGH); pressing grounds the input to 0V (LOW).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EXTI + NVIC: </a:t>
            </a:r>
            <a:r>
              <a:rPr sz="1200">
                <a:solidFill>
                  <a:srgbClr val="334155"/>
                </a:solidFill>
              </a:rPr>
              <a:t>Asynchronous edge trigger immediately halts CPU wait-states.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PROCESSING
</a:t>
            </a:r>
            <a:r>
              <a:rPr sz="1500" b="1">
                <a:solidFill>
                  <a:srgbClr val="0F172A"/>
                </a:solidFill>
              </a:rPr>
              <a:t>EMBEDDED CONTROLLER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Target MCU: </a:t>
            </a:r>
            <a:r>
              <a:rPr sz="1200">
                <a:solidFill>
                  <a:srgbClr val="334155"/>
                </a:solidFill>
              </a:rPr>
              <a:t>STM32C031C6 (ARM Cortex-M0+ running at 12 MHz via HSI/4).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Asynchronous ISR: </a:t>
            </a:r>
            <a:r>
              <a:rPr sz="1200">
                <a:solidFill>
                  <a:srgbClr val="334155"/>
                </a:solidFill>
              </a:rPr>
              <a:t>Captures direction in &lt; 2 µs and applies a 50 ms contact debounce filter.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Non-Blocking FSM: </a:t>
            </a:r>
            <a:r>
              <a:rPr sz="1200">
                <a:solidFill>
                  <a:srgbClr val="334155"/>
                </a:solidFill>
              </a:rPr>
              <a:t>State machine driven by HAL_GetTick() without frozen delays.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Safety Interlock: </a:t>
            </a:r>
            <a:r>
              <a:rPr sz="1200">
                <a:solidFill>
                  <a:srgbClr val="334155"/>
                </a:solidFill>
              </a:rPr>
              <a:t>Hardware SetAllRed() driver prevents overlapping greens.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Fairness Engine: </a:t>
            </a:r>
            <a:r>
              <a:rPr sz="1200">
                <a:solidFill>
                  <a:srgbClr val="334155"/>
                </a:solidFill>
              </a:rPr>
              <a:t>Enforces 2-ambulance maximum and tracks lane wait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7452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OUTPUTS
</a:t>
            </a:r>
            <a:r>
              <a:rPr sz="1500" b="1">
                <a:solidFill>
                  <a:srgbClr val="16A34A"/>
                </a:solidFill>
              </a:rPr>
              <a:t>OUTPUT &amp; ACTUATION STAGE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Traffic LEDs (12 Pins): </a:t>
            </a:r>
            <a:r>
              <a:rPr sz="1200">
                <a:solidFill>
                  <a:srgbClr val="334155"/>
                </a:solidFill>
              </a:rPr>
              <a:t>North: PB0/1/2
East: PB3/4/5
South: PB6/7/8
West: PB9/PC6/PC7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Current Limiting: </a:t>
            </a:r>
            <a:r>
              <a:rPr sz="1200">
                <a:solidFill>
                  <a:srgbClr val="334155"/>
                </a:solidFill>
              </a:rPr>
              <a:t>220 Ω resistors ensure safe LED operating current.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Audible Alert: </a:t>
            </a:r>
            <a:r>
              <a:rPr sz="1200">
                <a:solidFill>
                  <a:srgbClr val="334155"/>
                </a:solidFill>
              </a:rPr>
              <a:t>Piezoelectric warning buzzer on PA7 sounds during emergency green &amp; yellow.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Telemetry Stream: </a:t>
            </a:r>
            <a:r>
              <a:rPr sz="1200">
                <a:solidFill>
                  <a:srgbClr val="334155"/>
                </a:solidFill>
              </a:rPr>
              <a:t>USART2 TX on PA2 (115200 baud) prints real-time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5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04 •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Hardware components, pin mapping, and software development toolchain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CIRCUIT LAYOUT
</a:t>
            </a:r>
            <a:r>
              <a:rPr sz="1500" b="1">
                <a:solidFill>
                  <a:srgbClr val="1E293B"/>
                </a:solidFill>
              </a:rPr>
              <a:t>HARDWARE COMPONENTS &amp; PINOUT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Controller: </a:t>
            </a:r>
            <a:r>
              <a:rPr sz="1200">
                <a:solidFill>
                  <a:srgbClr val="334155"/>
                </a:solidFill>
              </a:rPr>
              <a:t>STM32C031C6 (ARM Cortex-M0+, 32 KB Flash, 12 KB SRAM).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Traffic Signals: </a:t>
            </a:r>
            <a:r>
              <a:rPr sz="1200">
                <a:solidFill>
                  <a:srgbClr val="334155"/>
                </a:solidFill>
              </a:rPr>
              <a:t>12 active-high LEDs (Red, Yellow, Green for 4 approaches).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Emergency Inputs: </a:t>
            </a:r>
            <a:r>
              <a:rPr sz="1200">
                <a:solidFill>
                  <a:srgbClr val="334155"/>
                </a:solidFill>
              </a:rPr>
              <a:t>4 pushbuttons with internal pull-ups on PA0, PA1, PA4, PA8.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Warning Alert: </a:t>
            </a:r>
            <a:r>
              <a:rPr sz="1200">
                <a:solidFill>
                  <a:srgbClr val="334155"/>
                </a:solidFill>
              </a:rPr>
              <a:t>Active buzzer driven by GPIO push-pull on PA7.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Current Limiting: </a:t>
            </a:r>
            <a:r>
              <a:rPr sz="1200">
                <a:solidFill>
                  <a:srgbClr val="334155"/>
                </a:solidFill>
              </a:rPr>
              <a:t>220 Ω resistors on all 12 LED channels.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Serial TX / RX: </a:t>
            </a:r>
            <a:r>
              <a:rPr sz="1200">
                <a:solidFill>
                  <a:srgbClr val="334155"/>
                </a:solidFill>
              </a:rPr>
              <a:t>PA2 (USART2_TX) and PA3 (USART2_RX) at 115200 baud.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TOOLCHAIN
</a:t>
            </a:r>
            <a:r>
              <a:rPr sz="1500" b="1">
                <a:solidFill>
                  <a:srgbClr val="2563EB"/>
                </a:solidFill>
              </a:rPr>
              <a:t>SOFTWARE TOOLS &amp; WORKFLOW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STM32CubeMX: </a:t>
            </a:r>
            <a:r>
              <a:rPr sz="1200">
                <a:solidFill>
                  <a:srgbClr val="334155"/>
                </a:solidFill>
              </a:rPr>
              <a:t>Visual chip configuration, pinout assignment, clock tree generation (HSI DIV4 = 12 MHz), and HAL startup code.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STM32CubeIDE: </a:t>
            </a:r>
            <a:r>
              <a:rPr sz="1200">
                <a:solidFill>
                  <a:srgbClr val="334155"/>
                </a:solidFill>
              </a:rPr>
              <a:t>Embedded C development, GNU ARM GCC toolchain, compilation, linker script mapping, and ELF binary generation.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VS Code + Wokwi: </a:t>
            </a:r>
            <a:r>
              <a:rPr sz="1200">
                <a:solidFill>
                  <a:srgbClr val="334155"/>
                </a:solidFill>
              </a:rPr>
              <a:t>Cycle-accurate virtual hardware simulation, interactive pushbutton clicks, LED rendering, and live Serial Monitor streaming.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HAL &amp; Non-Blocking: </a:t>
            </a:r>
            <a:r>
              <a:rPr sz="1200">
                <a:solidFill>
                  <a:srgbClr val="334155"/>
                </a:solidFill>
              </a:rPr>
              <a:t>Uses STM32C0 HAL with HAL_GetTick() delta timing, eliminating processor-freezing HAL_Delay()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6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05 • CONTROL LOGIC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Controller State Machine — 6 Non-blocking phases governing the junction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REGULAR FLOW
</a:t>
            </a:r>
            <a:r>
              <a:rPr sz="1500" b="1">
                <a:solidFill>
                  <a:srgbClr val="16A34A"/>
                </a:solidFill>
              </a:rPr>
              <a:t>NORMAL TRAFFIC CYCLE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Phase 1 • Normal Green (5 s): </a:t>
            </a:r>
            <a:r>
              <a:rPr sz="1200">
                <a:solidFill>
                  <a:srgbClr val="334155"/>
                </a:solidFill>
              </a:rPr>
              <a:t>Active approach receives green; remaining 3 directions held red. Continuously scans for emergency requests.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Phase 2 • Normal Yellow (2 s): </a:t>
            </a:r>
            <a:r>
              <a:rPr sz="1200">
                <a:solidFill>
                  <a:srgbClr val="334155"/>
                </a:solidFill>
              </a:rPr>
              <a:t>Caution clearance phase; warns approaching cars to stop smoothly when time expires or an emergency occurs.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Phase 3 • All-Red Clearance (1 s): </a:t>
            </a:r>
            <a:r>
              <a:rPr sz="1200">
                <a:solidFill>
                  <a:srgbClr val="334155"/>
                </a:solidFill>
              </a:rPr>
              <a:t>All 4 approaches display red. Junction completely clears before switching to next direction.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Autonomous Sequence: </a:t>
            </a:r>
            <a:r>
              <a:rPr sz="1200">
                <a:solidFill>
                  <a:srgbClr val="334155"/>
                </a:solidFill>
              </a:rPr>
              <a:t>Rotates predictably: North → East → South → West → North.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EMERGENCY FLOW
</a:t>
            </a:r>
            <a:r>
              <a:rPr sz="1500" b="1">
                <a:solidFill>
                  <a:srgbClr val="DC2626"/>
                </a:solidFill>
              </a:rPr>
              <a:t>EMERGENCY PRIORITY PHASES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Phase 4 • Ambulance Green (10 s): </a:t>
            </a:r>
            <a:r>
              <a:rPr sz="1200">
                <a:solidFill>
                  <a:srgbClr val="334155"/>
                </a:solidFill>
              </a:rPr>
              <a:t>Requested approach gets green; buzzer turns ON at PA7; civilian traffic safely held red.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Phase 5 • Ambulance Yellow (2 s): </a:t>
            </a:r>
            <a:r>
              <a:rPr sz="1200">
                <a:solidFill>
                  <a:srgbClr val="334155"/>
                </a:solidFill>
              </a:rPr>
              <a:t>Caution transition as ambulance clears; buzzer remains ON to warn nearby drivers.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Phase 6 • Ambulance All-Red (1 s): </a:t>
            </a:r>
            <a:r>
              <a:rPr sz="1200">
                <a:solidFill>
                  <a:srgbClr val="334155"/>
                </a:solidFill>
              </a:rPr>
              <a:t>All red; buzzer turns OFF; scheduler checks whether another queued ambulance is waiting or if anti-starvation applies.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Safety Guarantee: </a:t>
            </a:r>
            <a:r>
              <a:rPr sz="1200">
                <a:solidFill>
                  <a:srgbClr val="334155"/>
                </a:solidFill>
              </a:rPr>
              <a:t>Direct green-to-green transitions are impossible — confirmed red required before any green turns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7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06 • EMBEDDED ENGINEERING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Interrupt callback resolution, contact debouncing, and atomic bitmask latching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HAL INTEGRATION
</a:t>
            </a:r>
            <a:r>
              <a:rPr sz="1500" b="1">
                <a:solidFill>
                  <a:srgbClr val="2563EB"/>
                </a:solidFill>
              </a:rPr>
              <a:t>THE EXTI CALLBACK RESOLUTION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The Challenge: </a:t>
            </a:r>
            <a:r>
              <a:rPr sz="1200">
                <a:solidFill>
                  <a:srgbClr val="334155"/>
                </a:solidFill>
              </a:rPr>
              <a:t>In older STM32 families (F1/F4), a single HAL_GPIO_EXTI_Callback() handled all pin interrupts. In STM32C0, the HAL split this into separate Rising and Falling callbacks.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The Discarded Symbol: </a:t>
            </a:r>
            <a:r>
              <a:rPr sz="1200">
                <a:solidFill>
                  <a:srgbClr val="334155"/>
                </a:solidFill>
              </a:rPr>
              <a:t>Because our initial code implemented the legacy callback name, the STM32C0 linker discarded it as dead code, silently ignoring button presses.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The Solution: </a:t>
            </a:r>
            <a:r>
              <a:rPr sz="1200">
                <a:solidFill>
                  <a:srgbClr val="334155"/>
                </a:solidFill>
              </a:rPr>
              <a:t>Implementing HAL_GPIO_EXTI_Falling_Callback() properly overrode the weak HAL driver function, allowing button presses to trigger instantly.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Microsecond Response: </a:t>
            </a:r>
            <a:r>
              <a:rPr sz="1200">
                <a:solidFill>
                  <a:srgbClr val="334155"/>
                </a:solidFill>
              </a:rPr>
              <a:t>The ISR completes in &lt; 2 µs by avoiding all blocking delays, logging, or LED operations inside interrupt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SIGNAL CONDITIONING
</a:t>
            </a:r>
            <a:r>
              <a:rPr sz="1500" b="1">
                <a:solidFill>
                  <a:srgbClr val="1E293B"/>
                </a:solidFill>
              </a:rPr>
              <a:t>DEBOUNCE &amp; BITMASK QUEUEING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Mechanical Chatter: </a:t>
            </a:r>
            <a:r>
              <a:rPr sz="1200">
                <a:solidFill>
                  <a:srgbClr val="334155"/>
                </a:solidFill>
              </a:rPr>
              <a:t>Physical switches oscillate for milliseconds during closure, risking multiple false triggers per click.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50 ms Software Debounce: </a:t>
            </a:r>
            <a:r>
              <a:rPr sz="1200">
                <a:solidFill>
                  <a:srgbClr val="334155"/>
                </a:solidFill>
              </a:rPr>
              <a:t>Independent lastPressTime[4] timestamp guard ensures that subsequent transitions within 50 ms are safely suppressed.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Non-Destructive Bitmask: </a:t>
            </a:r>
            <a:r>
              <a:rPr sz="1200">
                <a:solidFill>
                  <a:srgbClr val="334155"/>
                </a:solidFill>
              </a:rPr>
              <a:t>Valid requests set bits in pendingRequests |= (1U &lt;&lt; dir). Duplicate clicks on the same button do not inflate the queue.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 Acceptance: </a:t>
            </a:r>
            <a:r>
              <a:rPr sz="1200">
                <a:solidFill>
                  <a:srgbClr val="334155"/>
                </a:solidFill>
              </a:rPr>
              <a:t>A request bit is cleared only when the controller officially accepts that ambulance into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8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07 • FAIRNESS &amp; ANTI-STARVATION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Preventing civilian traffic starvation during heavy consecutive emergency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URBAN TRAFFIC DILEMMA
</a:t>
            </a:r>
            <a:r>
              <a:rPr sz="1500" b="1">
                <a:solidFill>
                  <a:srgbClr val="DC2626"/>
                </a:solidFill>
              </a:rPr>
              <a:t>THE STARVATION THREAT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Hospital Corridor Bottleneck: </a:t>
            </a:r>
            <a:r>
              <a:rPr sz="1200">
                <a:solidFill>
                  <a:srgbClr val="334155"/>
                </a:solidFill>
              </a:rPr>
              <a:t>Intersections adjacent to medical centers frequently experience multiple emergency vehicles arriving in close succession.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Civilian Gridlock: </a:t>
            </a:r>
            <a:r>
              <a:rPr sz="1200">
                <a:solidFill>
                  <a:srgbClr val="334155"/>
                </a:solidFill>
              </a:rPr>
              <a:t>Naive priority systems keep extending emergency green, trapping civilian lanes at red for 5-10 minutes.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Secondary Hazards: </a:t>
            </a:r>
            <a:r>
              <a:rPr sz="1200">
                <a:solidFill>
                  <a:srgbClr val="334155"/>
                </a:solidFill>
              </a:rPr>
              <a:t>Frustrated drivers run red lights; blocked intersections create secondary gridlock that traps future ambulances.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System Requirement: </a:t>
            </a:r>
            <a:r>
              <a:rPr sz="1200">
                <a:solidFill>
                  <a:srgbClr val="334155"/>
                </a:solidFill>
              </a:rPr>
              <a:t>An embedded system must be both responsive to emergencies and fundamentally fair to general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SCHEDULER ARCHITECTURE
</a:t>
            </a:r>
            <a:r>
              <a:rPr sz="1500" b="1">
                <a:solidFill>
                  <a:srgbClr val="16A34A"/>
                </a:solidFill>
              </a:rPr>
              <a:t>THE DYNAMIC FAIRNESS ENGINE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Configurable Limit: </a:t>
            </a:r>
            <a:r>
              <a:rPr sz="1200">
                <a:solidFill>
                  <a:srgbClr val="334155"/>
                </a:solidFill>
              </a:rPr>
              <a:t>MAX_CONSECUTIVE_AMBULANCES = 2. Tracks consecutive emergency runs without civilian traffic.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Wait-Time Tracking: </a:t>
            </a:r>
            <a:r>
              <a:rPr sz="1200">
                <a:solidFill>
                  <a:srgbClr val="334155"/>
                </a:solidFill>
              </a:rPr>
              <a:t>Array lastNormalGreenTime[4] records the timestamp of when each lane last enjoyed a normal green phase.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Guaranteed Civilian Phase: </a:t>
            </a:r>
            <a:r>
              <a:rPr sz="1200">
                <a:solidFill>
                  <a:srgbClr val="334155"/>
                </a:solidFill>
              </a:rPr>
              <a:t>When the 2nd ambulance finishes, the system forces a full 5-second normal green for the longest-waiting lane.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Uninterruptible Window: </a:t>
            </a:r>
            <a:r>
              <a:rPr sz="1200">
                <a:solidFill>
                  <a:srgbClr val="334155"/>
                </a:solidFill>
              </a:rPr>
              <a:t>This anti-starvation phase cannot be cut short by new emergency requests.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Zero Request Loss: </a:t>
            </a:r>
            <a:r>
              <a:rPr sz="1200">
                <a:solidFill>
                  <a:srgbClr val="334155"/>
                </a:solidFill>
              </a:rPr>
              <a:t>Waiting ambulance requests remain safely queued in memory and resume immediately after the civilian phase finishes.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9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08 • METHODOLOGY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Operating sequence — Step-by-step lifecycle of the junction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STEPS 1 - 4
</a:t>
            </a:r>
            <a:r>
              <a:rPr sz="1500" b="1">
                <a:solidFill>
                  <a:srgbClr val="2563EB"/>
                </a:solidFill>
              </a:rPr>
              <a:t>DETECTION &amp; PREEMPTION SEQUENCE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1 • Normal Operation: </a:t>
            </a:r>
            <a:r>
              <a:rPr sz="1200">
                <a:solidFill>
                  <a:srgbClr val="334155"/>
                </a:solidFill>
              </a:rPr>
              <a:t>Junction rotates N → E → S → W using 5 s green, 2 s yellow, and 1 s all-red phases.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2 • Request Ingest: </a:t>
            </a:r>
            <a:r>
              <a:rPr sz="1200">
                <a:solidFill>
                  <a:srgbClr val="334155"/>
                </a:solidFill>
              </a:rPr>
              <a:t>Ambulance button pulls pin to GND; EXTI triggers; ISR checks 50 ms debounce and sets direction bitmask.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3 • Controlled Braking: </a:t>
            </a:r>
            <a:r>
              <a:rPr sz="1200">
                <a:solidFill>
                  <a:srgbClr val="334155"/>
                </a:solidFill>
              </a:rPr>
              <a:t>Conflicting active green transitions to yellow (2 s) and all-red (1 s) so cars clear the intersection safely.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4 • Priority Phase: </a:t>
            </a:r>
            <a:r>
              <a:rPr sz="1200">
                <a:solidFill>
                  <a:srgbClr val="334155"/>
                </a:solidFill>
              </a:rPr>
              <a:t>Requested direction receives 10 seconds of green; warning buzzer sounds continuously on PA7.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STEPS 5 - 8
</a:t>
            </a:r>
            <a:r>
              <a:rPr sz="1500" b="1">
                <a:solidFill>
                  <a:srgbClr val="0F172A"/>
                </a:solidFill>
              </a:rPr>
              <a:t>CLEARANCE &amp; FAIRNESS SEQUENCE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5 • Exit Caution: </a:t>
            </a:r>
            <a:r>
              <a:rPr sz="1200">
                <a:solidFill>
                  <a:srgbClr val="334155"/>
                </a:solidFill>
              </a:rPr>
              <a:t>Ambulance approach transitions to yellow (2 s) and all-red (1 s); warning buzzer shuts off.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6 • Anti-Starvation Check: </a:t>
            </a:r>
            <a:r>
              <a:rPr sz="1200">
                <a:solidFill>
                  <a:srgbClr val="334155"/>
                </a:solidFill>
              </a:rPr>
              <a:t>If 2 consecutive ambulances have been served, grant a guaranteed 5 s normal green to the longest-waiting lane.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7 • Queue Service: </a:t>
            </a:r>
            <a:r>
              <a:rPr sz="1200">
                <a:solidFill>
                  <a:srgbClr val="334155"/>
                </a:solidFill>
              </a:rPr>
              <a:t>If fewer than 2 ambulances or after civilian phase, service next pending emergency in round-robin sequence.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Step 8 • Return to Normal: </a:t>
            </a:r>
            <a:r>
              <a:rPr sz="1200">
                <a:solidFill>
                  <a:srgbClr val="334155"/>
                </a:solidFill>
              </a:rPr>
              <a:t>When queue is empty, resume normal rotation from the next approach in sequence.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10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09 • SIMULATION &amp; VALIDATION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Observable testing scenarios and real-time UART telemetry in Wokwi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WOKWI TEST BENCH
</a:t>
            </a:r>
            <a:r>
              <a:rPr sz="1500" b="1">
                <a:solidFill>
                  <a:srgbClr val="16A34A"/>
                </a:solidFill>
              </a:rPr>
              <a:t>TEST SCENARIOS VALIDATED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Test 1 • Normal Cycle: </a:t>
            </a:r>
            <a:r>
              <a:rPr sz="1200">
                <a:solidFill>
                  <a:srgbClr val="334155"/>
                </a:solidFill>
              </a:rPr>
              <a:t>Verified hands-free rotation through North, East, South, and West with exact 5s / 2s / 1s timing.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Test 2 • Emergency Preemption: </a:t>
            </a:r>
            <a:r>
              <a:rPr sz="1200">
                <a:solidFill>
                  <a:srgbClr val="334155"/>
                </a:solidFill>
              </a:rPr>
              <a:t>Pressed 'E' during North green. North safely transitioned to yellow (2s), all-red (1s), and East green lit for 10s with buzzer 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Test 3 • Concurrent Queueing: </a:t>
            </a:r>
            <a:r>
              <a:rPr sz="1200">
                <a:solidFill>
                  <a:srgbClr val="334155"/>
                </a:solidFill>
              </a:rPr>
              <a:t>Pressed 'S' and 'W' in rapid succession. South served first; West served immediately after without losing requests.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Test 4 • Anti-Starvation Test: </a:t>
            </a:r>
            <a:r>
              <a:rPr sz="1200">
                <a:solidFill>
                  <a:srgbClr val="334155"/>
                </a:solidFill>
              </a:rPr>
              <a:t>Triggered 'N', 'E', 'S'. First two served, then system forced a normal green for civilian traffic, then served 'S'.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Safety Check: </a:t>
            </a:r>
            <a:r>
              <a:rPr sz="1200">
                <a:solidFill>
                  <a:srgbClr val="334155"/>
                </a:solidFill>
              </a:rPr>
              <a:t>Zero overlapping greens across all tests; buzzer synchronized perfectly with priority.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CONSOLE LOGS
</a:t>
            </a:r>
            <a:r>
              <a:rPr sz="1500" b="1">
                <a:solidFill>
                  <a:srgbClr val="1E293B"/>
                </a:solidFill>
              </a:rPr>
              <a:t>LIVE SERIAL TELEMETRY (USART2)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System Boot: </a:t>
            </a:r>
            <a:r>
              <a:rPr sz="1200">
                <a:solidFill>
                  <a:srgbClr val="334155"/>
                </a:solidFill>
              </a:rPr>
              <a:t>[BOOT] Smart Ambulance Traffic Control Initialized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Normal Cycle: </a:t>
            </a:r>
            <a:r>
              <a:rPr sz="1200">
                <a:solidFill>
                  <a:srgbClr val="334155"/>
                </a:solidFill>
              </a:rPr>
              <a:t>[STATE] Normal traffic: NORTH GREEN (5000 ms)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Transition: </a:t>
            </a:r>
            <a:r>
              <a:rPr sz="1200">
                <a:solidFill>
                  <a:srgbClr val="334155"/>
                </a:solidFill>
              </a:rPr>
              <a:t>[STATE] Transition: NORTH YELLOW -&gt; ALL RED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Emergency Detect: </a:t>
            </a:r>
            <a:r>
              <a:rPr sz="1200">
                <a:solidFill>
                  <a:srgbClr val="334155"/>
                </a:solidFill>
              </a:rPr>
              <a:t>[EVENT] Ambulance request received: EAST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Priority Grant: </a:t>
            </a:r>
            <a:r>
              <a:rPr sz="1200">
                <a:solidFill>
                  <a:srgbClr val="334155"/>
                </a:solidFill>
              </a:rPr>
              <a:t>[STATE] Ambulance priority granted: EAST (Consecutive: 1/2)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Anti-Starvation: </a:t>
            </a:r>
            <a:r>
              <a:rPr sz="1200">
                <a:solidFill>
                  <a:srgbClr val="334155"/>
                </a:solidFill>
              </a:rPr>
              <a:t>[ALERT] Anti-starvation triggered! Max 2 consecutive ambulances reached.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Guaranteed Phase: </a:t>
            </a:r>
            <a:r>
              <a:rPr sz="1200">
                <a:solidFill>
                  <a:srgbClr val="334155"/>
                </a:solidFill>
              </a:rPr>
              <a:t>[STATE] Granting guaranteed normal green to longest-waiting: SOUTH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Baud Rate: </a:t>
            </a:r>
            <a:r>
              <a:rPr sz="1200">
                <a:solidFill>
                  <a:srgbClr val="334155"/>
                </a:solidFill>
              </a:rPr>
              <a:t>115200 baud, 8N1 formatted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11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10 • SDG ALIGNMENT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United Nations Sustainable Development Goals — Health &amp; Urban Mobility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UN SDG 3
</a:t>
            </a:r>
            <a:r>
              <a:rPr sz="1500" b="1">
                <a:solidFill>
                  <a:srgbClr val="16A34A"/>
                </a:solidFill>
              </a:rPr>
              <a:t>SDG 3: GOOD HEALTH &amp; WELL-BEING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Target 3.6: </a:t>
            </a:r>
            <a:r>
              <a:rPr sz="1200">
                <a:solidFill>
                  <a:srgbClr val="334155"/>
                </a:solidFill>
              </a:rPr>
              <a:t>Halving global deaths and injuries from road traffic accidents.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Target 3.d: </a:t>
            </a:r>
            <a:r>
              <a:rPr sz="1200">
                <a:solidFill>
                  <a:srgbClr val="334155"/>
                </a:solidFill>
              </a:rPr>
              <a:t>Strengthening early warning, risk reduction, and rapid emergency response.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Preserving the Golden Hour: </a:t>
            </a:r>
            <a:r>
              <a:rPr sz="1200">
                <a:solidFill>
                  <a:srgbClr val="334155"/>
                </a:solidFill>
              </a:rPr>
              <a:t>Reducing intersection transit delays directly improves survival rates in cardiac arrests, acute trauma, and stroke emergencies.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 Transport: </a:t>
            </a:r>
            <a:r>
              <a:rPr sz="1200">
                <a:solidFill>
                  <a:srgbClr val="334155"/>
                </a:solidFill>
              </a:rPr>
              <a:t>Eliminates dangerous, unpredictable intersection crossings, protecting both patients and paramedics.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UN SDG 11
</a:t>
            </a:r>
            <a:r>
              <a:rPr sz="1500" b="1">
                <a:solidFill>
                  <a:srgbClr val="2563EB"/>
                </a:solidFill>
              </a:rPr>
              <a:t>SDG 11: SUSTAINABLE CITIES &amp; COMMUNITIES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Target 11.2: </a:t>
            </a:r>
            <a:r>
              <a:rPr sz="1200">
                <a:solidFill>
                  <a:srgbClr val="334155"/>
                </a:solidFill>
              </a:rPr>
              <a:t>Providing access to safe, affordable, accessible, and sustainable transport systems for all.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Urban Congestion Relief: </a:t>
            </a:r>
            <a:r>
              <a:rPr sz="1200">
                <a:solidFill>
                  <a:srgbClr val="334155"/>
                </a:solidFill>
              </a:rPr>
              <a:t>Anti-starvation logic ensures regular commuter lanes and public transit are never permanently paralyzed by emergency traffic.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 &amp; Resilient Infrastructure: </a:t>
            </a:r>
            <a:r>
              <a:rPr sz="1200">
                <a:solidFill>
                  <a:srgbClr val="334155"/>
                </a:solidFill>
              </a:rPr>
              <a:t>Mandatory yellow and all-red clearance intervals eliminate dangerous intersection collision risks.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Reduced Carbon Emissions: </a:t>
            </a:r>
            <a:r>
              <a:rPr sz="1200">
                <a:solidFill>
                  <a:srgbClr val="334155"/>
                </a:solidFill>
              </a:rPr>
              <a:t>Minimizing deadlocked traffic reduces unnecessary vehicle idling and localized greenhouse gas emissions.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12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11 • APPLICATIONS &amp; FUTURE SCOPE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Real-world smart city deployment and hardware sensor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DEPLOYMENT
</a:t>
            </a:r>
            <a:r>
              <a:rPr sz="1500" b="1">
                <a:solidFill>
                  <a:srgbClr val="1E293B"/>
                </a:solidFill>
              </a:rPr>
              <a:t>POTENTIAL APPLICATIONS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Hospital Emergency Corridors: </a:t>
            </a:r>
            <a:r>
              <a:rPr sz="1200">
                <a:solidFill>
                  <a:srgbClr val="334155"/>
                </a:solidFill>
              </a:rPr>
              <a:t>Dynamic signal management along primary arterial roads connecting suburban highways to major trauma hospitals.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Intelligent Transportation Systems (ITS): </a:t>
            </a:r>
            <a:r>
              <a:rPr sz="1200">
                <a:solidFill>
                  <a:srgbClr val="334155"/>
                </a:solidFill>
              </a:rPr>
              <a:t>Integration with centralized municipal traffic management centers for coordinated green-wave corridors.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Multi-Agency Emergency Preemption: </a:t>
            </a:r>
            <a:r>
              <a:rPr sz="1200">
                <a:solidFill>
                  <a:srgbClr val="334155"/>
                </a:solidFill>
              </a:rPr>
              <a:t>Easily expandable to fire rescue engines, disaster response vehicles, and police convoys with multi-tier priority levels.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UPGRADES
</a:t>
            </a:r>
            <a:r>
              <a:rPr sz="1500" b="1">
                <a:solidFill>
                  <a:srgbClr val="2563EB"/>
                </a:solidFill>
              </a:rPr>
              <a:t>FUTURE HARDWARE EXPANSIONS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V2X Wireless Transponders: </a:t>
            </a:r>
            <a:r>
              <a:rPr sz="1200">
                <a:solidFill>
                  <a:srgbClr val="334155"/>
                </a:solidFill>
              </a:rPr>
              <a:t>Replacing pushbuttons with DSRC / C-V2X (Vehicle-to-Infrastructure) radio beacons transmitting emergency authentication.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GPS Geo-Fencing: </a:t>
            </a:r>
            <a:r>
              <a:rPr sz="1200">
                <a:solidFill>
                  <a:srgbClr val="334155"/>
                </a:solidFill>
              </a:rPr>
              <a:t>Automatically preempting intersection signals when an approaching ambulance enters a 500-meter threshold.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Acoustic Siren Sensors: </a:t>
            </a:r>
            <a:r>
              <a:rPr sz="1200">
                <a:solidFill>
                  <a:srgbClr val="334155"/>
                </a:solidFill>
              </a:rPr>
              <a:t>Directional microphone arrays tuned to emergency siren frequencies (750 Hz - 1.5 kHz) for automated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</a:rPr>
              <a:t>23CSE304  |  EMBEDDED SYSTEMS</a:t>
            </a:r>
            <a:r>
              <a:rPr sz="1100" b="1">
                <a:solidFill>
                  <a:srgbClr val="64748B"/>
                </a:solidFill>
              </a:rPr>
              <a:t>                                                                                                                  13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12 • CLOSING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Project summary, key achievements, and technical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FINAL SUMMARY
</a:t>
            </a:r>
            <a:r>
              <a:rPr sz="1500" b="1">
                <a:solidFill>
                  <a:srgbClr val="2563EB"/>
                </a:solidFill>
              </a:rPr>
              <a:t>SUMMARY OF ACHIEVEMENTS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Complete Embedded Firmware: </a:t>
            </a:r>
            <a:r>
              <a:rPr sz="1200">
                <a:solidFill>
                  <a:srgbClr val="334155"/>
                </a:solidFill>
              </a:rPr>
              <a:t>Designed and verified a non-blocking state machine controller on the STM32C031C6 ARM Cortex-M0+ MCU.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EXTI Callback Fix: </a:t>
            </a:r>
            <a:r>
              <a:rPr sz="1200">
                <a:solidFill>
                  <a:srgbClr val="334155"/>
                </a:solidFill>
              </a:rPr>
              <a:t>Diagnosed and resolved the HAL_GPIO_EXTI_Falling_Callback linkage nuance in STM32C0.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Safety Interlock: </a:t>
            </a:r>
            <a:r>
              <a:rPr sz="1200">
                <a:solidFill>
                  <a:srgbClr val="334155"/>
                </a:solidFill>
              </a:rPr>
              <a:t>Hardware SetAllRed() driver physically eliminates conflicting green signals.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Anti-Starvation Engine: </a:t>
            </a:r>
            <a:r>
              <a:rPr sz="1200">
                <a:solidFill>
                  <a:srgbClr val="334155"/>
                </a:solidFill>
              </a:rPr>
              <a:t>Guarantees fair civilian traffic movement even during continuous emergency calls.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Virtual Prototyping: </a:t>
            </a:r>
            <a:r>
              <a:rPr sz="1200">
                <a:solidFill>
                  <a:srgbClr val="334155"/>
                </a:solidFill>
              </a:rPr>
              <a:t>Fully verified across 4 test scenarios using Wokwi simulation with live UART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2563EB"/>
                </a:solidFill>
              </a:rPr>
              <a:t>CITATIONS
</a:t>
            </a:r>
            <a:r>
              <a:rPr sz="1500" b="1">
                <a:solidFill>
                  <a:srgbClr val="1E293B"/>
                </a:solidFill>
              </a:rPr>
              <a:t>TECHNICAL REFERENCES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Ref 1: </a:t>
            </a:r>
            <a:r>
              <a:rPr sz="1200">
                <a:solidFill>
                  <a:srgbClr val="334155"/>
                </a:solidFill>
              </a:rPr>
              <a:t>STMicroelectronics, STM32C031x4/x6/x8 Reference Manual (RM0490).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Ref 2: </a:t>
            </a:r>
            <a:r>
              <a:rPr sz="1200">
                <a:solidFill>
                  <a:srgbClr val="334155"/>
                </a:solidFill>
              </a:rPr>
              <a:t>STMicroelectronics, STM32C031C6 Datasheet &amp; STM32CubeC0 HAL Driver Documentation.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Ref 3: </a:t>
            </a:r>
            <a:r>
              <a:rPr sz="1200">
                <a:solidFill>
                  <a:srgbClr val="334155"/>
                </a:solidFill>
              </a:rPr>
              <a:t>IEEE, 'GPS and ZigBee Based Traffic Signal Preemption for Emergency Vehicles', ICICT, 2016.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Ref 4: </a:t>
            </a:r>
            <a:r>
              <a:rPr sz="1200">
                <a:solidFill>
                  <a:srgbClr val="334155"/>
                </a:solidFill>
              </a:rPr>
              <a:t>United Nations, Sustainable Development Goal 3: Good Health and Well-Being.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</a:rPr>
              <a:t>• Ref 5: </a:t>
            </a:r>
            <a:r>
              <a:rPr sz="1200">
                <a:solidFill>
                  <a:srgbClr val="334155"/>
                </a:solidFill>
              </a:rPr>
              <a:t>United Nations, Sustainable Development Goal 11: Sustainable Cities and Communities.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